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CDB5"/>
                </a:solidFill>
                <a:latin typeface="Aptos"/>
              </a:rPr>
              <a:t>WOXSEN UNIVERSITY  •  SCHOOL OF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60704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D5DFE9"/>
                </a:solidFill>
                <a:latin typeface="Aptos"/>
              </a:rPr>
              <a:t>DBMS COURSE PROJECT  •  REVIEW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658368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100" b="1">
                <a:solidFill>
                  <a:srgbClr val="F8F9FA"/>
                </a:solidFill>
                <a:latin typeface="Aptos"/>
              </a:rPr>
              <a:t>Student &amp; College
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6675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D5DFE9"/>
                </a:solidFill>
                <a:latin typeface="Aptos"/>
              </a:rPr>
              <a:t>Logical schema, normalization, constraints and database implementation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4069080"/>
            <a:ext cx="2286000" cy="0"/>
          </a:xfrm>
          <a:prstGeom prst="line">
            <a:avLst/>
          </a:prstGeom>
          <a:ln w="1905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315968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F9FA"/>
                </a:solidFill>
                <a:latin typeface="Aptos"/>
              </a:rPr>
              <a:t>Vardan Desai  •  25WU0104029  •  B.Tech CSE – AIML  •  Rhinos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63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DBDCC"/>
                </a:solidFill>
                <a:latin typeface="Aptos"/>
              </a:rPr>
              <a:t>Python  •  Streamlit  •  MySQL  • 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43000"/>
            <a:ext cx="3246120" cy="33832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1664208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CDB5"/>
                </a:solidFill>
                <a:latin typeface="Aptos"/>
              </a:rPr>
              <a:t>REVIEW 2  •  DATABASE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331720"/>
            <a:ext cx="2697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F8F9FA"/>
                </a:solidFill>
                <a:latin typeface="Aptos"/>
              </a:rPr>
              <a:t>Student &amp; College
Management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429000"/>
            <a:ext cx="2423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D5DFE9"/>
                </a:solidFill>
                <a:latin typeface="Aptos"/>
              </a:rPr>
              <a:t>Academic Year 2026–27
Semester III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77639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ADBDCC"/>
                </a:solidFill>
                <a:latin typeface="Aptos"/>
              </a:rPr>
              <a:t>Database-centric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ADBDCC"/>
                </a:solidFill>
                <a:latin typeface="Aptos"/>
              </a:rPr>
              <a:t>Requirements  •  Design  •  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01 — IMPLEMENTATION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From approved ERD to a working MySQL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logical model is implemented as 15 related tables with constraints, triggers, procedures and views.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2514600" cy="1965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Relational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24327"/>
            <a:ext cx="201168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FE9"/>
                </a:solidFill>
                <a:latin typeface="Aptos"/>
              </a:rPr>
              <a:t>15 tables with explicit PK/FK paths and controlled referential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74519"/>
            <a:ext cx="2514600" cy="1965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103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624327"/>
            <a:ext cx="201168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FE9"/>
                </a:solidFill>
                <a:latin typeface="Aptos"/>
              </a:rPr>
              <a:t>Master and transaction facts remain separated through 3NF.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874519"/>
            <a:ext cx="2514600" cy="1965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2103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03  Integrity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624327"/>
            <a:ext cx="201168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FE9"/>
                </a:solidFill>
                <a:latin typeface="Aptos"/>
              </a:rPr>
              <a:t>UNIQUE, NOT NULL, CHECK, DEFAULT and trigger-based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874519"/>
            <a:ext cx="2514600" cy="1965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4272" y="21031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04  Reporting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2624327"/>
            <a:ext cx="2011680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5DFE9"/>
                </a:solidFill>
                <a:latin typeface="Aptos"/>
              </a:rPr>
              <a:t>Joins, aggregates and eight SQL views answer recurring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343400"/>
            <a:ext cx="1783080" cy="9144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4471416"/>
            <a:ext cx="1453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8F9FA"/>
                </a:solidFill>
                <a:latin typeface="Aptos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4873752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ADBDCC"/>
                </a:solidFill>
                <a:latin typeface="Aptos"/>
              </a:rPr>
              <a:t>tables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4343400"/>
            <a:ext cx="1783080" cy="9144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4471416"/>
            <a:ext cx="1453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8F9FA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4873752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ADBDCC"/>
                </a:solidFill>
                <a:latin typeface="Aptos"/>
              </a:rPr>
              <a:t>procedures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52160" y="4343400"/>
            <a:ext cx="1783080" cy="9144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6752" y="4471416"/>
            <a:ext cx="1453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8F9FA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16752" y="4873752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ADBDCC"/>
                </a:solidFill>
                <a:latin typeface="Aptos"/>
              </a:rPr>
              <a:t>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4343400"/>
            <a:ext cx="1783080" cy="9144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1" y="4471416"/>
            <a:ext cx="1453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300" b="1">
                <a:solidFill>
                  <a:srgbClr val="F8F9FA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4873752"/>
            <a:ext cx="145389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ADBDCC"/>
                </a:solidFill>
                <a:latin typeface="Aptos"/>
              </a:rPr>
              <a:t>trigger 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02 — RELATIONAL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15 relations derived from the conceptual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Primary keys identify rows; foreign keys carry the relationships between independent facts.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69164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31720"/>
                <a:gridCol w="5623560"/>
              </a:tblGrid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39" b="1">
                          <a:solidFill>
                            <a:srgbClr val="F8F9FA"/>
                          </a:solidFill>
                          <a:latin typeface="Aptos"/>
                        </a:rPr>
                        <a:t>Table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9" b="1">
                          <a:solidFill>
                            <a:srgbClr val="F8F9FA"/>
                          </a:solidFill>
                          <a:latin typeface="Aptos"/>
                        </a:rPr>
                        <a:t>Primary key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39" b="1">
                          <a:solidFill>
                            <a:srgbClr val="F8F9FA"/>
                          </a:solidFill>
                          <a:latin typeface="Aptos"/>
                        </a:rPr>
                        <a:t>Important foreign keys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department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department_id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programme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programme_id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department_id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faculty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faculty_id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department_id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course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course_id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department_id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semester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semester_id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section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section_id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course_id, semester_id, faculty_id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student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student_id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programme_id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guardian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guardian_id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student_id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registration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registration_id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student_id, course_id, semester_id, section_id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attendance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attendance_id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registration_id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examination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exam_id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registration_id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grade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grade_id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exam_id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fee_bill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bill_id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student_id, semester_id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892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payment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payment_id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bill_id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user_account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user_id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D5DFE9"/>
                          </a:solidFill>
                          <a:latin typeface="Aptos"/>
                        </a:rPr>
                        <a:t>reference_id (role-linked)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03 — NORMALIZATION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Why the schema stops at Third Normal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Normalization reduces redundancy while keeping academic and finance transactions independently maintainable.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337560" cy="21488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0312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1NF — atomic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624327"/>
            <a:ext cx="28346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10" b="0">
                <a:solidFill>
                  <a:srgbClr val="D5DFE9"/>
                </a:solidFill>
                <a:latin typeface="Aptos"/>
              </a:rPr>
              <a:t>Each field stores a single value; repeating groups are not embedded inside a row.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337560" cy="21488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0312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2NF — full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624327"/>
            <a:ext cx="28346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10" b="0">
                <a:solidFill>
                  <a:srgbClr val="D5DFE9"/>
                </a:solidFill>
                <a:latin typeface="Aptos"/>
              </a:rPr>
              <a:t>Non-key attributes depend on the complete row key rather than part of a composite dependency.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3337560" cy="21488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210312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03  3NF — no transitive dependency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2624327"/>
            <a:ext cx="28346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10" b="0">
                <a:solidFill>
                  <a:srgbClr val="D5DFE9"/>
                </a:solidFill>
                <a:latin typeface="Aptos"/>
              </a:rPr>
              <a:t>Department and programme facts are referenced rather than duplicated inside student or course rows.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4434840"/>
            <a:ext cx="7178040" cy="10515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70632" y="466344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Design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5184648"/>
            <a:ext cx="6675120" cy="91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Cleaner updates, fewer anomalies, explicit joins and easier integrity enforcement.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04 — KEYS &amp;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Integrity rules encoded in the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database rejects structurally invalid records before they can become inconsistent data.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5120640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8F9FA"/>
                          </a:solidFill>
                          <a:latin typeface="Aptos"/>
                        </a:rPr>
                        <a:t>Rule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8F9FA"/>
                          </a:solidFill>
                          <a:latin typeface="Aptos"/>
                        </a:rPr>
                        <a:t>Example in SCMS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 b="1">
                          <a:solidFill>
                            <a:srgbClr val="F8F9FA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PRIMARY KEY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student.student_id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Unique row identity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FOREIGN KEY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registration.student_id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Prevents orphan references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UNIQUE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student.reg_number / course.course_code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Prevents duplicate business identifiers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NOT NULL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student.first_name / course.course_name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Requires essential values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marks_obtained &gt;= 0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Restricts invalid domain values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marks_obtained &lt;= max_marks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Prevents impossible exam scores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DEFAULT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status / capacity / fee_type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Provides safe default state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INDEX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registration(student_id, semester_id)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D5DFE9"/>
                          </a:solidFill>
                          <a:latin typeface="Aptos"/>
                        </a:rPr>
                        <a:t>Supports frequent lookup patterns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05 — DATABASE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Rules enforced at the MySQL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Cross-row and event-dependent rules execute when the corresponding data modification reaches MySQL.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606040" cy="19202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78608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5DFE9"/>
                </a:solidFill>
                <a:latin typeface="Aptos"/>
              </a:rPr>
              <a:t>Active student
Duplicate course check
Section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06040" cy="19202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057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578608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5DFE9"/>
                </a:solidFill>
                <a:latin typeface="Aptos"/>
              </a:rPr>
              <a:t>Valid registration
No dropped registration
No future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606040" cy="19202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057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03  Payments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578608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5DFE9"/>
                </a:solidFill>
                <a:latin typeface="Aptos"/>
              </a:rPr>
              <a:t>Positive amount
Existing bill
No overpayment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828800"/>
            <a:ext cx="2606040" cy="192024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5711" y="20574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04  Fee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2578608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5DFE9"/>
                </a:solidFill>
                <a:latin typeface="Aptos"/>
              </a:rPr>
              <a:t>Recalculate Unpaid / Partially Paid / Paid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206240"/>
            <a:ext cx="672084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44348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05  Automatic grading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99232" y="4956048"/>
            <a:ext cx="6217920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30" b="0">
                <a:solidFill>
                  <a:srgbClr val="D5DFE9"/>
                </a:solidFill>
                <a:latin typeface="Aptos"/>
              </a:rPr>
              <a:t>Exam insert/update calculates percentage, letter grade and grade point directly in MySQL.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41264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ADBDCC"/>
                </a:solidFill>
                <a:latin typeface="Aptos"/>
              </a:rPr>
              <a:t>SIGNAL SQLSTATE 45000 is used for explicit business-rule rejection.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06 — STORED PROCEDURES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Transactional operations and rollback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Stored procedures keep multi-step database work atomic and reusable from the Python application.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4892040" cy="24231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488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sp_admit_student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70048"/>
            <a:ext cx="438912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10" b="0">
                <a:solidFill>
                  <a:srgbClr val="D5DFE9"/>
                </a:solidFill>
                <a:latin typeface="Aptos"/>
              </a:rPr>
              <a:t>Validates programme reference, inserts the student, inserts optional guardian information and commits only after the transaction succeeds. SQLEXCEPTION causes ROLLBACK.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20240"/>
            <a:ext cx="4892040" cy="24231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02552" y="21488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sp_record_exam_result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2552" y="2670048"/>
            <a:ext cx="438912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10" b="0">
                <a:solidFill>
                  <a:srgbClr val="D5DFE9"/>
                </a:solidFill>
                <a:latin typeface="Aptos"/>
              </a:rPr>
              <a:t>Validates registration status and marks, inserts the examination row, then reads the trigger-generated percentage, letter grade and grade point.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4800600"/>
            <a:ext cx="2240280" cy="822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500176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START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5330952"/>
            <a:ext cx="196596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write all related rows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43400" y="5212080"/>
            <a:ext cx="914400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49240" y="4800600"/>
            <a:ext cx="2240280" cy="822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5001768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330952"/>
            <a:ext cx="196596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all checks pass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26679" y="5212080"/>
            <a:ext cx="914401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32520" y="4800600"/>
            <a:ext cx="1554480" cy="82296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500176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ROLLBACK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330952"/>
            <a:ext cx="128016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on SQLEXCEPTION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07 — SQL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One normalized dataset, multiple analytical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Views keep recurring joins and aggregations in the database instead of rebuilding them in the interface.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55648"/>
          <a:ext cx="107899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7726679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79" b="1">
                          <a:solidFill>
                            <a:srgbClr val="F8F9FA"/>
                          </a:solidFill>
                          <a:latin typeface="Aptos"/>
                        </a:rPr>
                        <a:t>View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9" b="1">
                          <a:solidFill>
                            <a:srgbClr val="F8F9FA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anchor="ctr" marL="63500" marR="63500" marT="25400" marB="25400">
                    <a:solidFill>
                      <a:srgbClr val="132F4C"/>
                    </a:solidFill>
                    <a:lnL w="12700">
                      <a:solidFill>
                        <a:srgbClr val="00CDB5"/>
                      </a:solidFill>
                      <a:prstDash val="solid"/>
                    </a:lnL>
                    <a:lnR w="12700">
                      <a:solidFill>
                        <a:srgbClr val="00CDB5"/>
                      </a:solidFill>
                      <a:prstDash val="solid"/>
                    </a:lnR>
                    <a:lnT w="12700">
                      <a:solidFill>
                        <a:srgbClr val="00CDB5"/>
                      </a:solidFill>
                      <a:prstDash val="solid"/>
                    </a:lnT>
                    <a:lnB w="12700">
                      <a:solidFill>
                        <a:srgbClr val="00CDB5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v_section_occupancy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Capacity, enrolled count, available seats and occupancy percentage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v_attendance_summary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Session totals, present/absent/excused counts and attendance percentage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v_exam_details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Student, course, exam marks and trigger-generated grade details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v_result_analysis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Candidate count, average, highest, lowest and pass percentage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v_student_academic_history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Transcript-style history across registered courses and assessments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v_fee_dues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Bill-level amount, paid amount, balance due and status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v_student_dues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Student-level billed, paid and outstanding totals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v_department_summary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60" b="0">
                          <a:solidFill>
                            <a:srgbClr val="D5DFE9"/>
                          </a:solidFill>
                          <a:latin typeface="Aptos"/>
                        </a:rPr>
                        <a:t>Department-level faculty, programme, course and student counts</a:t>
                      </a:r>
                    </a:p>
                  </a:txBody>
                  <a:tcPr anchor="ctr" marL="63500" marR="63500" marT="25400" marB="25400">
                    <a:solidFill>
                      <a:srgbClr val="163452"/>
                    </a:solidFill>
                    <a:lnL w="12700">
                      <a:solidFill>
                        <a:srgbClr val="425F78"/>
                      </a:solidFill>
                      <a:prstDash val="solid"/>
                    </a:lnL>
                    <a:lnR w="12700">
                      <a:solidFill>
                        <a:srgbClr val="425F78"/>
                      </a:solidFill>
                      <a:prstDash val="solid"/>
                    </a:lnR>
                    <a:lnT w="12700">
                      <a:solidFill>
                        <a:srgbClr val="425F78"/>
                      </a:solidFill>
                      <a:prstDash val="solid"/>
                    </a:lnT>
                    <a:lnB w="12700">
                      <a:solidFill>
                        <a:srgbClr val="425F7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08 — APPLICATION CONNECTIVITY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Python application on top of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new prototype uses Streamlit directly with mysql-connector-python; SQL remains the source of truth.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192024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35000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164592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Forms, filters, reports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2724912"/>
            <a:ext cx="960120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49039" y="2148840"/>
            <a:ext cx="201168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3500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STREAMLIT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679192"/>
            <a:ext cx="1737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Pages + session state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2724912"/>
            <a:ext cx="960120" cy="0"/>
          </a:xfrm>
          <a:prstGeom prst="line">
            <a:avLst/>
          </a:prstGeom>
          <a:ln w="30480">
            <a:solidFill>
              <a:srgbClr val="009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0" y="2148840"/>
            <a:ext cx="201168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35000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PYTHON DB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679192"/>
            <a:ext cx="1737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Parameterized SQL + CALL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5400" y="2724912"/>
            <a:ext cx="914400" cy="0"/>
          </a:xfrm>
          <a:prstGeom prst="line">
            <a:avLst/>
          </a:prstGeom>
          <a:ln w="3048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21240" y="2148840"/>
            <a:ext cx="1554480" cy="11430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35000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8F9FA"/>
                </a:solidFill>
                <a:latin typeface="Aptos"/>
              </a:rPr>
              <a:t>MYSQL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679192"/>
            <a:ext cx="12801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D5DFE9"/>
                </a:solidFill>
                <a:latin typeface="Aptos"/>
              </a:rPr>
              <a:t>Tables + rules + views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160520"/>
            <a:ext cx="8412480" cy="109728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4832" y="4389120"/>
            <a:ext cx="79095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Connection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84832" y="4910328"/>
            <a:ext cx="7909559" cy="137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D5DFE9"/>
                </a:solidFill>
                <a:latin typeface="Aptos"/>
              </a:rPr>
              <a:t>DB_HOST, DB_PORT, DB_USER, DB_PASSWORD and DB_NAME are loaded through .env; queries use parameters rather than string concatenation.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CDB5"/>
                </a:solidFill>
                <a:latin typeface="Aptos"/>
              </a:rPr>
              <a:t>REVIEW 2 → REVIEW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F8F9FA"/>
                </a:solidFill>
                <a:latin typeface="Aptos"/>
              </a:rPr>
              <a:t>Next milestone: working prototype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5272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5DFE9"/>
                </a:solidFill>
                <a:latin typeface="Aptos"/>
              </a:rPr>
              <a:t>The logical database is now the foundation for live CRUD, trigger demonstrations and reporting.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572768"/>
            <a:ext cx="1161288" cy="0"/>
          </a:xfrm>
          <a:prstGeom prst="line">
            <a:avLst/>
          </a:prstGeom>
          <a:ln w="50800">
            <a:solidFill>
              <a:srgbClr val="00CD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6547104"/>
            <a:ext cx="8046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DBDCC"/>
                </a:solidFill>
                <a:latin typeface="Aptos"/>
              </a:rPr>
              <a:t>Student &amp; College Management System  •  Vardan Desai  •  25WU0104029  •  AIML Rhinos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0138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ADBDCC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4884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01  Database 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67004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Schema, seed data, constraints, triggers, procedures and 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2024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9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14884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02  Application readying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67004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Streamlit pages mapped to students, registration, attendance, examinations, fees and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20240"/>
            <a:ext cx="3337560" cy="1828800"/>
          </a:xfrm>
          <a:prstGeom prst="roundRect">
            <a:avLst/>
          </a:prstGeom>
          <a:solidFill>
            <a:srgbClr val="163452"/>
          </a:solidFill>
          <a:ln w="14604">
            <a:solidFill>
              <a:srgbClr val="00C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148840"/>
            <a:ext cx="28346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03 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70048"/>
            <a:ext cx="2834639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0">
                <a:solidFill>
                  <a:srgbClr val="D5DFE9"/>
                </a:solidFill>
                <a:latin typeface="Aptos"/>
              </a:rPr>
              <a:t>Run positive/negative tests and capture actual prototype evidence.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634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CDB5"/>
                </a:solidFill>
                <a:latin typeface="Aptos"/>
              </a:rPr>
              <a:t>REVIEW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047488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D5DFE9"/>
                </a:solidFill>
                <a:latin typeface="Aptos"/>
              </a:rPr>
              <a:t>Working prototype  •  Validation  • 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&amp; College Management System – DBMS PBL</dc:title>
  <dc:subject>Woxsen University – Database Management Systems Project</dc:subject>
  <dc:creator>Vardan Desai</dc:creator>
  <cp:keywords>DBMS, MySQL, Python, Streamlit, SCMS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