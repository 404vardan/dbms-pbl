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2C39A"/>
                </a:solidFill>
                <a:latin typeface="Calibri"/>
              </a:rPr>
              <a:t>WOXSEN UNIVERSITY  •  SCHOOL OF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C8D6DC"/>
                </a:solidFill>
                <a:latin typeface="Calibri"/>
              </a:rPr>
              <a:t>DBMS COURSE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67665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Student &amp; College
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880360"/>
            <a:ext cx="6675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D7E3E8"/>
                </a:solidFill>
                <a:latin typeface="Calibri"/>
              </a:rPr>
              <a:t>Relational database application for admissions, academics, attendance, examinations, grades and fee records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1143000"/>
            <a:ext cx="3611880" cy="338328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92440" y="150876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2C39A"/>
                </a:solidFill>
                <a:latin typeface="Calibri"/>
              </a:rPr>
              <a:t>FINAL PBL PACKAGE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2103120"/>
            <a:ext cx="29260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Vardan Desai
25WU0104029
AIML Rhinos
Semester III
Academic Year 2026–27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806440"/>
            <a:ext cx="6217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7C4CB"/>
                </a:solidFill>
                <a:latin typeface="Calibri"/>
              </a:rPr>
              <a:t>Requirements  •  Conceptual Design  •  Database Logic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92240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B7C4CB"/>
                </a:solidFill>
                <a:latin typeface="Calibri"/>
              </a:rPr>
              <a:t>Student &amp; College Management System  •  Vardan Desai  •  25WU0104029  •  AIML Rhinos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B7C4CB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2C39A"/>
                </a:solidFill>
                <a:latin typeface="Calibri"/>
              </a:rPr>
              <a:t>01 —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Fragmented records create avoidable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972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8D6DC"/>
                </a:solidFill>
                <a:latin typeface="Calibri"/>
              </a:rPr>
              <a:t>The project starts from one simple question: can common college records be managed from one consistent data model?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36192"/>
            <a:ext cx="1143000" cy="45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2560320" cy="246888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2048256"/>
            <a:ext cx="22311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Duplication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423160"/>
            <a:ext cx="2231136" cy="1847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7E3E8"/>
                </a:solidFill>
                <a:latin typeface="Calibri"/>
              </a:rPr>
              <a:t>Student, course and fee facts are easy to repeat when maintained in separate records.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920240"/>
            <a:ext cx="2560320" cy="246888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2" y="2048256"/>
            <a:ext cx="22311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No shared 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3592" y="2423160"/>
            <a:ext cx="2231136" cy="1847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7E3E8"/>
                </a:solidFill>
                <a:latin typeface="Calibri"/>
              </a:rPr>
              <a:t>Academic and financial information needs joins across modules to answer combined questions.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920240"/>
            <a:ext cx="2560320" cy="246888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2048256"/>
            <a:ext cx="22311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Delayed reporting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423160"/>
            <a:ext cx="2231136" cy="1847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7E3E8"/>
                </a:solidFill>
                <a:latin typeface="Calibri"/>
              </a:rPr>
              <a:t>Attendance, results and fee status should come from the same underlying records.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40" y="1920240"/>
            <a:ext cx="2560320" cy="246888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71432" y="2048256"/>
            <a:ext cx="22311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Unenforced rules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71432" y="2423160"/>
            <a:ext cx="2231136" cy="1847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7E3E8"/>
                </a:solidFill>
                <a:latin typeface="Calibri"/>
              </a:rPr>
              <a:t>Duplicate registration, full sections and fee overpayment need database-side checks.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92240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B7C4CB"/>
                </a:solidFill>
                <a:latin typeface="Calibri"/>
              </a:rPr>
              <a:t>Student &amp; College Management System  •  Vardan Desai  •  25WU0104029  •  AIML Rhinos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B7C4C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2C39A"/>
                </a:solidFill>
                <a:latin typeface="Calibri"/>
              </a:rPr>
              <a:t>02 —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Scope from admission to fee settlement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972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8D6DC"/>
                </a:solidFill>
                <a:latin typeface="Calibri"/>
              </a:rPr>
              <a:t>A compact academic management system rather than a full college ERP.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36192"/>
            <a:ext cx="1143000" cy="45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303520" cy="347472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956816"/>
            <a:ext cx="49743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In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331720"/>
            <a:ext cx="4974336" cy="28529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D7E3E8"/>
                </a:solidFill>
                <a:latin typeface="Calibri"/>
              </a:rPr>
              <a:t>Student + guardian records
Departments and programmes
Courses + faculty + sections
Registration + attendance
Examinations + grades
Fee bills + payments
Reports and login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828800"/>
            <a:ext cx="5303520" cy="347472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1" y="1956816"/>
            <a:ext cx="49743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Out of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1" y="2331720"/>
            <a:ext cx="4974336" cy="28529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D7E3E8"/>
                </a:solidFill>
                <a:latin typeface="Calibri"/>
              </a:rPr>
              <a:t>Hostel management
Library systems
Payroll and HR
Alumni tracking
Online exam proctoring
Institution-wide deployment
Advanced notification services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92240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B7C4CB"/>
                </a:solidFill>
                <a:latin typeface="Calibri"/>
              </a:rPr>
              <a:t>Student &amp; College Management System  •  Vardan Desai  •  25WU0104029  •  AIML Rhinos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996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B7C4C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2C39A"/>
                </a:solidFill>
                <a:latin typeface="Calibri"/>
              </a:rPr>
              <a:t>03 —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Objectives across design and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972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8D6DC"/>
                </a:solidFill>
                <a:latin typeface="Calibri"/>
              </a:rPr>
              <a:t>The final system is evaluated primarily on the DBMS concepts visible in the implementation.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36192"/>
            <a:ext cx="1143000" cy="45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474720" cy="150876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956816"/>
            <a:ext cx="31455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01  Normalize to 3NF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331720"/>
            <a:ext cx="3145536" cy="8869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7E3E8"/>
                </a:solidFill>
                <a:latin typeface="Calibri"/>
              </a:rPr>
              <a:t>Separate master and transaction data; remove repeated facts.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828800"/>
            <a:ext cx="3474720" cy="150876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1956816"/>
            <a:ext cx="31455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02  Enforce integrity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2331720"/>
            <a:ext cx="3145536" cy="8869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7E3E8"/>
                </a:solidFill>
                <a:latin typeface="Calibri"/>
              </a:rPr>
              <a:t>PK, FK, UNIQUE, NOT NULL, CHECK and triggers.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3474720" cy="150876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1956816"/>
            <a:ext cx="31455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03  Support transactions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2331720"/>
            <a:ext cx="3145536" cy="8869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7E3E8"/>
                </a:solidFill>
                <a:latin typeface="Calibri"/>
              </a:rPr>
              <a:t>Admission, registration, attendance, exams and fees.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28800" y="3703320"/>
            <a:ext cx="3474720" cy="150876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93392" y="3831335"/>
            <a:ext cx="31455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04  Build reports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93392" y="4206240"/>
            <a:ext cx="3145536" cy="8869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7E3E8"/>
                </a:solidFill>
                <a:latin typeface="Calibri"/>
              </a:rPr>
              <a:t>Use joins, aggregates and views for analysis.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23560" y="3703320"/>
            <a:ext cx="3474720" cy="150876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88152" y="3831335"/>
            <a:ext cx="31455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05  Connect application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88152" y="4206240"/>
            <a:ext cx="3145536" cy="8869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7E3E8"/>
                </a:solidFill>
                <a:latin typeface="Calibri"/>
              </a:rPr>
              <a:t>React frontend → Flask API → MySQL database.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92240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B7C4CB"/>
                </a:solidFill>
                <a:latin typeface="Calibri"/>
              </a:rPr>
              <a:t>Student &amp; College Management System  •  Vardan Desai  •  25WU0104029  •  AIML Rhinos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B7C4C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2C39A"/>
                </a:solidFill>
                <a:latin typeface="Calibri"/>
              </a:rPr>
              <a:t>04 — FUNCTIONAL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What the final prototype must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972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8D6DC"/>
                </a:solidFill>
                <a:latin typeface="Calibri"/>
              </a:rPr>
              <a:t>Each requirement maps directly to a screen, route or database object.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36192"/>
            <a:ext cx="1143000" cy="45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5257800" cy="82296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911095"/>
            <a:ext cx="49286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FR1  Student admission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286000"/>
            <a:ext cx="4928616" cy="201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D7E3E8"/>
                </a:solidFill>
                <a:latin typeface="Calibri"/>
              </a:rPr>
              <a:t>Student + guardian via procedure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57800" cy="82296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911095"/>
            <a:ext cx="49286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FR2  Academic setup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2286000"/>
            <a:ext cx="4928616" cy="201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D7E3E8"/>
                </a:solidFill>
                <a:latin typeface="Calibri"/>
              </a:rPr>
              <a:t>Department / course / section master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788920"/>
            <a:ext cx="5257800" cy="82296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2916936"/>
            <a:ext cx="49286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FR3  Registration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3291839"/>
            <a:ext cx="4928616" cy="201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D7E3E8"/>
                </a:solidFill>
                <a:latin typeface="Calibri"/>
              </a:rPr>
              <a:t>Capacity + duplicate checks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788920"/>
            <a:ext cx="5257800" cy="82296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2916936"/>
            <a:ext cx="49286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FR4  Attendance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3291839"/>
            <a:ext cx="4928616" cy="201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D7E3E8"/>
                </a:solidFill>
                <a:latin typeface="Calibri"/>
              </a:rPr>
              <a:t>Daily status + shortage analysis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94760"/>
            <a:ext cx="5257800" cy="82296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1" y="3922776"/>
            <a:ext cx="49286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FR5  Examination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" y="4297680"/>
            <a:ext cx="4928616" cy="201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D7E3E8"/>
                </a:solidFill>
                <a:latin typeface="Calibri"/>
              </a:rPr>
              <a:t>Marks + automatic grade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94760"/>
            <a:ext cx="5257800" cy="82296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2" y="3922776"/>
            <a:ext cx="49286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FR6  Fees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4297680"/>
            <a:ext cx="4928616" cy="201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D7E3E8"/>
                </a:solidFill>
                <a:latin typeface="Calibri"/>
              </a:rPr>
              <a:t>Bills + payment + balance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800600"/>
            <a:ext cx="5257800" cy="82296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1" y="4928616"/>
            <a:ext cx="49286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FR7  Reports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" y="5303520"/>
            <a:ext cx="4928616" cy="201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D7E3E8"/>
                </a:solidFill>
                <a:latin typeface="Calibri"/>
              </a:rPr>
              <a:t>Eight SQL views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4800600"/>
            <a:ext cx="5257800" cy="82296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82512" y="4928616"/>
            <a:ext cx="49286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FR8  Authentication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2512" y="5303520"/>
            <a:ext cx="4928616" cy="201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D7E3E8"/>
                </a:solidFill>
                <a:latin typeface="Calibri"/>
              </a:rPr>
              <a:t>Login + protected routes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492240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B7C4CB"/>
                </a:solidFill>
                <a:latin typeface="Calibri"/>
              </a:rPr>
              <a:t>Student &amp; College Management System  •  Vardan Desai  •  25WU0104029  •  AIML Rhinos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B7C4C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2C39A"/>
                </a:solidFill>
                <a:latin typeface="Calibri"/>
              </a:rPr>
              <a:t>05 — CONCEPTUAL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Final ER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972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8D6DC"/>
                </a:solidFill>
                <a:latin typeface="Calibri"/>
              </a:rPr>
              <a:t>The implemented database keeps the academic relationships explicit; user_account is added for authentication.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36192"/>
            <a:ext cx="1143000" cy="45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37360"/>
            <a:ext cx="10835640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6492240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B7C4CB"/>
                </a:solidFill>
                <a:latin typeface="Calibri"/>
              </a:rPr>
              <a:t>Student &amp; College Management System  •  Vardan Desai  •  25WU0104029  •  AIML Rhinos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B7C4C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2C39A"/>
                </a:solidFill>
                <a:latin typeface="Calibri"/>
              </a:rPr>
              <a:t>06 — RELATIONAL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15 tables: 14 domain tables + user_account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972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8D6DC"/>
                </a:solidFill>
                <a:latin typeface="Calibri"/>
              </a:rPr>
              <a:t>Primary keys identify rows; foreign keys carry the relationships.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36192"/>
            <a:ext cx="1143000" cy="45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10881360" cy="443484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38528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2C39A"/>
                </a:solidFill>
                <a:latin typeface="Calibri"/>
              </a:rPr>
              <a:t>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938528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2C39A"/>
                </a:solidFill>
                <a:latin typeface="Calibri"/>
              </a:rPr>
              <a:t>PK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1938528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2C39A"/>
                </a:solidFill>
                <a:latin typeface="Calibri"/>
              </a:rPr>
              <a:t>FOREIGN KEYS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67712"/>
            <a:ext cx="20116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department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267712"/>
            <a:ext cx="10058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7E3E8"/>
                </a:solidFill>
                <a:latin typeface="Calibri"/>
              </a:rPr>
              <a:t>dept_id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39" y="2267712"/>
            <a:ext cx="63093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7E3E8"/>
                </a:solidFill>
                <a:latin typeface="Calibri"/>
              </a:rP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505456"/>
            <a:ext cx="20116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programme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505456"/>
            <a:ext cx="10058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7E3E8"/>
                </a:solidFill>
                <a:latin typeface="Calibri"/>
              </a:rPr>
              <a:t>programme_id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39" y="2505456"/>
            <a:ext cx="63093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7E3E8"/>
                </a:solidFill>
                <a:latin typeface="Calibri"/>
              </a:rPr>
              <a:t>dept_id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743200"/>
            <a:ext cx="20116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faculty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2743200"/>
            <a:ext cx="10058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7E3E8"/>
                </a:solidFill>
                <a:latin typeface="Calibri"/>
              </a:rPr>
              <a:t>faculty_id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39" y="2743200"/>
            <a:ext cx="63093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7E3E8"/>
                </a:solidFill>
                <a:latin typeface="Calibri"/>
              </a:rPr>
              <a:t>dept_id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2980944"/>
            <a:ext cx="20116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course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2980944"/>
            <a:ext cx="10058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7E3E8"/>
                </a:solidFill>
                <a:latin typeface="Calibri"/>
              </a:rPr>
              <a:t>course_id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7639" y="2980944"/>
            <a:ext cx="63093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7E3E8"/>
                </a:solidFill>
                <a:latin typeface="Calibri"/>
              </a:rPr>
              <a:t>dept_id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218688"/>
            <a:ext cx="20116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semester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3218688"/>
            <a:ext cx="10058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7E3E8"/>
                </a:solidFill>
                <a:latin typeface="Calibri"/>
              </a:rPr>
              <a:t>semester_id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39" y="3218688"/>
            <a:ext cx="63093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7E3E8"/>
                </a:solidFill>
                <a:latin typeface="Calibri"/>
              </a:rP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3456432"/>
            <a:ext cx="20116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section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3456432"/>
            <a:ext cx="10058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7E3E8"/>
                </a:solidFill>
                <a:latin typeface="Calibri"/>
              </a:rPr>
              <a:t>section_id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77639" y="3456432"/>
            <a:ext cx="63093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7E3E8"/>
                </a:solidFill>
                <a:latin typeface="Calibri"/>
              </a:rPr>
              <a:t>course_id, faculty_id, semester_id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3694176"/>
            <a:ext cx="20116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student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3694176"/>
            <a:ext cx="10058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7E3E8"/>
                </a:solidFill>
                <a:latin typeface="Calibri"/>
              </a:rPr>
              <a:t>student_id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77639" y="3694176"/>
            <a:ext cx="63093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7E3E8"/>
                </a:solidFill>
                <a:latin typeface="Calibri"/>
              </a:rPr>
              <a:t>programme_id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3931920"/>
            <a:ext cx="20116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guardian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17520" y="3931920"/>
            <a:ext cx="10058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7E3E8"/>
                </a:solidFill>
                <a:latin typeface="Calibri"/>
              </a:rPr>
              <a:t>guardian_id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77639" y="3931920"/>
            <a:ext cx="63093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7E3E8"/>
                </a:solidFill>
                <a:latin typeface="Calibri"/>
              </a:rPr>
              <a:t>student_id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4169664"/>
            <a:ext cx="20116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registration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17520" y="4169664"/>
            <a:ext cx="10058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7E3E8"/>
                </a:solidFill>
                <a:latin typeface="Calibri"/>
              </a:rPr>
              <a:t>registration_id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77639" y="4169664"/>
            <a:ext cx="63093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7E3E8"/>
                </a:solidFill>
                <a:latin typeface="Calibri"/>
              </a:rPr>
              <a:t>student_id, section_id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4407408"/>
            <a:ext cx="20116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attendance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17520" y="4407408"/>
            <a:ext cx="10058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7E3E8"/>
                </a:solidFill>
                <a:latin typeface="Calibri"/>
              </a:rPr>
              <a:t>attendance_id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77639" y="4407408"/>
            <a:ext cx="63093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7E3E8"/>
                </a:solidFill>
                <a:latin typeface="Calibri"/>
              </a:rPr>
              <a:t>registration_id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" y="4645152"/>
            <a:ext cx="20116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examination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17520" y="4645152"/>
            <a:ext cx="10058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7E3E8"/>
                </a:solidFill>
                <a:latin typeface="Calibri"/>
              </a:rPr>
              <a:t>exam_id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77639" y="4645152"/>
            <a:ext cx="63093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7E3E8"/>
                </a:solidFill>
                <a:latin typeface="Calibri"/>
              </a:rPr>
              <a:t>registration_id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4882896"/>
            <a:ext cx="20116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grade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17520" y="4882896"/>
            <a:ext cx="10058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7E3E8"/>
                </a:solidFill>
                <a:latin typeface="Calibri"/>
              </a:rPr>
              <a:t>grade_id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77639" y="4882896"/>
            <a:ext cx="63093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7E3E8"/>
                </a:solidFill>
                <a:latin typeface="Calibri"/>
              </a:rPr>
              <a:t>exam_id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" y="5120640"/>
            <a:ext cx="20116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fee_bill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017520" y="5120640"/>
            <a:ext cx="10058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7E3E8"/>
                </a:solidFill>
                <a:latin typeface="Calibri"/>
              </a:rPr>
              <a:t>bill_id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77639" y="5120640"/>
            <a:ext cx="63093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7E3E8"/>
                </a:solidFill>
                <a:latin typeface="Calibri"/>
              </a:rPr>
              <a:t>student_id, semester_id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" y="5358383"/>
            <a:ext cx="20116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payment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17520" y="5358383"/>
            <a:ext cx="10058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7E3E8"/>
                </a:solidFill>
                <a:latin typeface="Calibri"/>
              </a:rPr>
              <a:t>payment_id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977639" y="5358383"/>
            <a:ext cx="63093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7E3E8"/>
                </a:solidFill>
                <a:latin typeface="Calibri"/>
              </a:rPr>
              <a:t>bill_id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8680" y="5596128"/>
            <a:ext cx="20116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user_account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017520" y="5596128"/>
            <a:ext cx="10058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7E3E8"/>
                </a:solidFill>
                <a:latin typeface="Calibri"/>
              </a:rPr>
              <a:t>user_id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977639" y="5596128"/>
            <a:ext cx="63093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7E3E8"/>
                </a:solidFill>
                <a:latin typeface="Calibri"/>
              </a:rPr>
              <a:t>student_id?, faculty_id?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4360" y="6492240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B7C4CB"/>
                </a:solidFill>
                <a:latin typeface="Calibri"/>
              </a:rPr>
              <a:t>Student &amp; College Management System  •  Vardan Desai  •  25WU0104029  •  AIML Rhinos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10996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B7C4C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2C39A"/>
                </a:solidFill>
                <a:latin typeface="Calibri"/>
              </a:rPr>
              <a:t>07 — BUSINESS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Rules are checked where the data is written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972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8D6DC"/>
                </a:solidFill>
                <a:latin typeface="Calibri"/>
              </a:rPr>
              <a:t>Database triggers are used for row-dependent rules that simple form validation cannot guarantee.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36192"/>
            <a:ext cx="1143000" cy="45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1828800" cy="484632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892807"/>
            <a:ext cx="1508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2C39A"/>
                </a:solidFill>
                <a:latin typeface="Calibri"/>
              </a:rPr>
              <a:t>REGISTRATION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865376"/>
            <a:ext cx="27432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Section capacity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1865376"/>
            <a:ext cx="5212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D7E3E8"/>
                </a:solidFill>
                <a:latin typeface="Calibri"/>
              </a:rPr>
              <a:t>Reject when seats are full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41448"/>
            <a:ext cx="1828800" cy="484632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551176"/>
            <a:ext cx="1508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2C39A"/>
                </a:solidFill>
                <a:latin typeface="Calibri"/>
              </a:rPr>
              <a:t>REGISTRATION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523744"/>
            <a:ext cx="27432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Duplicate course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523744"/>
            <a:ext cx="5212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D7E3E8"/>
                </a:solidFill>
                <a:latin typeface="Calibri"/>
              </a:rPr>
              <a:t>Reject same course twice in one semester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099815"/>
            <a:ext cx="1828800" cy="484632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3209544"/>
            <a:ext cx="1508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2C39A"/>
                </a:solidFill>
                <a:latin typeface="Calibri"/>
              </a:rPr>
              <a:t>ATTENDANCE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182111"/>
            <a:ext cx="27432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Calendar rules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3182111"/>
            <a:ext cx="5212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D7E3E8"/>
                </a:solidFill>
                <a:latin typeface="Calibri"/>
              </a:rPr>
              <a:t>Reject future or out-of-semester dates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758184"/>
            <a:ext cx="1828800" cy="484632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3867912"/>
            <a:ext cx="1508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2C39A"/>
                </a:solidFill>
                <a:latin typeface="Calibri"/>
              </a:rPr>
              <a:t>EXAMINATION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3840480"/>
            <a:ext cx="27432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Grade mapping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3840480"/>
            <a:ext cx="5212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D7E3E8"/>
                </a:solidFill>
                <a:latin typeface="Calibri"/>
              </a:rPr>
              <a:t>Calculate A+ to F and grade points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416552"/>
            <a:ext cx="1828800" cy="484632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4526280"/>
            <a:ext cx="1508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2C39A"/>
                </a:solidFill>
                <a:latin typeface="Calibri"/>
              </a:rPr>
              <a:t>PAYMENT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4498848"/>
            <a:ext cx="27432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Overpayment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4498848"/>
            <a:ext cx="5212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D7E3E8"/>
                </a:solidFill>
                <a:latin typeface="Calibri"/>
              </a:rPr>
              <a:t>Reject payment above remaining balance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074920"/>
            <a:ext cx="1828800" cy="484632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" y="5184648"/>
            <a:ext cx="1508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2C39A"/>
                </a:solidFill>
                <a:latin typeface="Calibri"/>
              </a:rPr>
              <a:t>PAYMENT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5157216"/>
            <a:ext cx="27432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Bill status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5157216"/>
            <a:ext cx="5212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D7E3E8"/>
                </a:solidFill>
                <a:latin typeface="Calibri"/>
              </a:rPr>
              <a:t>Update Unpaid / Partially Paid / Paid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492240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B7C4CB"/>
                </a:solidFill>
                <a:latin typeface="Calibri"/>
              </a:rPr>
              <a:t>Student &amp; College Management System  •  Vardan Desai  •  25WU0104029  •  AIML Rhinos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B7C4C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2C39A"/>
                </a:solidFill>
                <a:latin typeface="Calibri"/>
              </a:rPr>
              <a:t>08 — NEXT MILESTONE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From conceptual design to a runnable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972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8D6DC"/>
                </a:solidFill>
                <a:latin typeface="Calibri"/>
              </a:rPr>
              <a:t>The final implementation moves the model into MySQL and connects it to the React + Flask application.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36192"/>
            <a:ext cx="1143000" cy="45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200400" cy="237744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956816"/>
            <a:ext cx="28712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1  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331720"/>
            <a:ext cx="2871216" cy="1755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7E3E8"/>
                </a:solidFill>
                <a:latin typeface="Calibri"/>
              </a:rPr>
              <a:t>Create schema, seed data, triggers, procedures and views.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828800"/>
            <a:ext cx="3200400" cy="237744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2" y="1956816"/>
            <a:ext cx="28712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2  Connect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2" y="2331720"/>
            <a:ext cx="2871216" cy="1755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7E3E8"/>
                </a:solidFill>
                <a:latin typeface="Calibri"/>
              </a:rPr>
              <a:t>Expose CRUD and report operations through Flask.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828800"/>
            <a:ext cx="3200400" cy="237744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85632" y="1956816"/>
            <a:ext cx="28712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3  Validate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331720"/>
            <a:ext cx="2871216" cy="1755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7E3E8"/>
                </a:solidFill>
                <a:latin typeface="Calibri"/>
              </a:rPr>
              <a:t>Run positive and negative tests against business rules.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92240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B7C4CB"/>
                </a:solidFill>
                <a:latin typeface="Calibri"/>
              </a:rPr>
              <a:t>Student &amp; College Management System  •  Vardan Desai  •  25WU0104029  •  AIML Rhinos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B7C4C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2C39A"/>
                </a:solidFill>
                <a:latin typeface="Calibri"/>
              </a:rPr>
              <a:t>REVIEW 1 → REVIEW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Review 1 closes the conceptual design stage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972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8D6DC"/>
                </a:solidFill>
                <a:latin typeface="Calibri"/>
              </a:rPr>
              <a:t>The next presentation covers implementation, normalization and database objects.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36192"/>
            <a:ext cx="1143000" cy="45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200400" cy="228600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956816"/>
            <a:ext cx="28712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Approved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331720"/>
            <a:ext cx="2871216" cy="1664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7E3E8"/>
                </a:solidFill>
                <a:latin typeface="Calibri"/>
              </a:rPr>
              <a:t>Problem, scope, requirements and ER model.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828800"/>
            <a:ext cx="3200400" cy="228600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2" y="1956816"/>
            <a:ext cx="28712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Mapped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2" y="2331720"/>
            <a:ext cx="2871216" cy="1664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7E3E8"/>
                </a:solidFill>
                <a:latin typeface="Calibri"/>
              </a:rPr>
              <a:t>Relations, keys, constraints and SQL plan.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828800"/>
            <a:ext cx="3200400" cy="228600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85632" y="1956816"/>
            <a:ext cx="28712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331720"/>
            <a:ext cx="2871216" cy="1664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7E3E8"/>
                </a:solidFill>
                <a:latin typeface="Calibri"/>
              </a:rPr>
              <a:t>MySQL build + reports + working application.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89204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Student &amp; College Management System  •  Review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92240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B7C4CB"/>
                </a:solidFill>
                <a:latin typeface="Calibri"/>
              </a:rPr>
              <a:t>Student &amp; College Management System  •  Vardan Desai  •  25WU0104029  •  AIML Rhinos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B7C4C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&amp; College Management System</dc:title>
  <dc:subject/>
  <dc:creator>Vardan Desai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