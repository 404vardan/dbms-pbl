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589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0CDB5"/>
                </a:solidFill>
                <a:latin typeface="Aptos"/>
              </a:rPr>
              <a:t>WOXSEN UNIVERSITY  •  SCHOOL OF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60704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D5DFE9"/>
                </a:solidFill>
                <a:latin typeface="Aptos"/>
              </a:rPr>
              <a:t>DBMS COURSE PROJECT  •  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658368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Student &amp; College
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34640"/>
            <a:ext cx="6675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5DFE9"/>
                </a:solidFill>
                <a:latin typeface="Aptos"/>
              </a:rPr>
              <a:t>Working prototype, database validation, reporting and final submission evidence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4069080"/>
            <a:ext cx="2286000" cy="0"/>
          </a:xfrm>
          <a:prstGeom prst="line">
            <a:avLst/>
          </a:prstGeom>
          <a:ln w="1905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4315968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9FA"/>
                </a:solidFill>
                <a:latin typeface="Aptos"/>
              </a:rPr>
              <a:t>Vardan Desai  •  25WU0104029  •  B.Tech CSE – AIML  •  Rhinos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663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DBDCC"/>
                </a:solidFill>
                <a:latin typeface="Aptos"/>
              </a:rPr>
              <a:t>Python  •  Streamlit  •  MySQL  •  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143000"/>
            <a:ext cx="3246120" cy="338328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66420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CDB5"/>
                </a:solidFill>
                <a:latin typeface="Aptos"/>
              </a:rPr>
              <a:t>REVIEW 3  •  FINAL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331720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8F9FA"/>
                </a:solidFill>
                <a:latin typeface="Aptos"/>
              </a:rPr>
              <a:t>Student &amp; College
Management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42900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D5DFE9"/>
                </a:solidFill>
                <a:latin typeface="Aptos"/>
              </a:rPr>
              <a:t>Academic Year 2026–27
Semester III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977639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ADBDCC"/>
                </a:solidFill>
                <a:latin typeface="Aptos"/>
              </a:rPr>
              <a:t>Database-centric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9893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DBDCC"/>
                </a:solidFill>
                <a:latin typeface="Aptos"/>
              </a:rPr>
              <a:t>Requirements  •  Design  •  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01 — WORKING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From Streamlit input to a database-backed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The final prototype uses the same MySQL database for writes, validation and reports.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2606040" cy="21031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03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01  Authenticated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624327"/>
            <a:ext cx="210312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FE9"/>
                </a:solidFill>
                <a:latin typeface="Aptos"/>
              </a:rPr>
              <a:t>Login verifies credentials through MySQL; Streamlit session state controls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74519"/>
            <a:ext cx="2606040" cy="21031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103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02  Live CRUD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624327"/>
            <a:ext cx="210312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FE9"/>
                </a:solidFill>
                <a:latin typeface="Aptos"/>
              </a:rPr>
              <a:t>Forms create, read and update database records across academic and finance modules.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74519"/>
            <a:ext cx="2606040" cy="21031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03  Persistent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624327"/>
            <a:ext cx="210312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FE9"/>
                </a:solidFill>
                <a:latin typeface="Aptos"/>
              </a:rPr>
              <a:t>Refreshes and page changes continue to read the same database state.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874519"/>
            <a:ext cx="2606040" cy="21031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2" y="2103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04  Rule enforcement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624327"/>
            <a:ext cx="210312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FE9"/>
                </a:solidFill>
                <a:latin typeface="Aptos"/>
              </a:rPr>
              <a:t>Invalid registrations, dates, marks and payments are rejected by database rules.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4805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CDB5"/>
                </a:solidFill>
                <a:latin typeface="Aptos"/>
              </a:rPr>
              <a:t>FINAL DEMO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846320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8F9FA"/>
                </a:solidFill>
                <a:latin typeface="Aptos"/>
              </a:rPr>
              <a:t>Input  →  Python  →  MySQL rule layer  →  commit / reject  →  updated page or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02 —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One database mapped to the complete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Each page corresponds to a real group of MySQL tables or views.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2880360" cy="14173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39112"/>
            <a:ext cx="2551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8F9FA"/>
                </a:solidFill>
                <a:latin typeface="Aptos"/>
              </a:rPr>
              <a:t>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77439"/>
            <a:ext cx="25511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D5DFE9"/>
                </a:solidFill>
                <a:latin typeface="Aptos"/>
              </a:rP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852928"/>
            <a:ext cx="25511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>
                <a:solidFill>
                  <a:srgbClr val="ADBDCC"/>
                </a:solidFill>
                <a:latin typeface="Aptos"/>
              </a:rPr>
              <a:t>user_account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874519"/>
            <a:ext cx="2880360" cy="14173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50791" y="2039112"/>
            <a:ext cx="2551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8F9FA"/>
                </a:solidFill>
                <a:latin typeface="Aptos"/>
              </a:rPr>
              <a:t>Admissions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1" y="2377439"/>
            <a:ext cx="25511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D5DFE9"/>
                </a:solidFill>
                <a:latin typeface="Aptos"/>
              </a:rPr>
              <a:t>Students + guardians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791" y="2852928"/>
            <a:ext cx="25511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>
                <a:solidFill>
                  <a:srgbClr val="ADBDCC"/>
                </a:solidFill>
                <a:latin typeface="Aptos"/>
              </a:rPr>
              <a:t>student / guardian / programme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874519"/>
            <a:ext cx="2880360" cy="14173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1192" y="2039112"/>
            <a:ext cx="2551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8F9FA"/>
                </a:solidFill>
                <a:latin typeface="Aptos"/>
              </a:rPr>
              <a:t>Academics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1192" y="2377439"/>
            <a:ext cx="25511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D5DFE9"/>
                </a:solidFill>
                <a:latin typeface="Aptos"/>
              </a:rPr>
              <a:t>Departments + courses + sections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2852928"/>
            <a:ext cx="25511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>
                <a:solidFill>
                  <a:srgbClr val="ADBDCC"/>
                </a:solidFill>
                <a:latin typeface="Aptos"/>
              </a:rPr>
              <a:t>department / course / faculty / semester / section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40480"/>
            <a:ext cx="2880360" cy="14173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005072"/>
            <a:ext cx="2551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8F9FA"/>
                </a:solidFill>
                <a:latin typeface="Aptos"/>
              </a:rPr>
              <a:t>Transactions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343400"/>
            <a:ext cx="25511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D5DFE9"/>
                </a:solidFill>
                <a:latin typeface="Aptos"/>
              </a:rPr>
              <a:t>Registration + attendance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4818888"/>
            <a:ext cx="25511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>
                <a:solidFill>
                  <a:srgbClr val="ADBDCC"/>
                </a:solidFill>
                <a:latin typeface="Aptos"/>
              </a:rPr>
              <a:t>registration / attendance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3840480"/>
            <a:ext cx="2880360" cy="14173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50791" y="4005072"/>
            <a:ext cx="2551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8F9FA"/>
                </a:solidFill>
                <a:latin typeface="Aptos"/>
              </a:rPr>
              <a:t>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0791" y="4343400"/>
            <a:ext cx="25511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D5DFE9"/>
                </a:solidFill>
                <a:latin typeface="Aptos"/>
              </a:rPr>
              <a:t>Examinations + grades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0791" y="4818888"/>
            <a:ext cx="25511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>
                <a:solidFill>
                  <a:srgbClr val="ADBDCC"/>
                </a:solidFill>
                <a:latin typeface="Aptos"/>
              </a:rPr>
              <a:t>examination / grade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86600" y="3840480"/>
            <a:ext cx="2148840" cy="14173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51192" y="4005072"/>
            <a:ext cx="1819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8F9FA"/>
                </a:solidFill>
                <a:latin typeface="Aptos"/>
              </a:rPr>
              <a:t>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4343400"/>
            <a:ext cx="18196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D5DFE9"/>
                </a:solidFill>
                <a:latin typeface="Aptos"/>
              </a:rPr>
              <a:t>Bills + payments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1192" y="4818888"/>
            <a:ext cx="18196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>
                <a:solidFill>
                  <a:srgbClr val="ADBDCC"/>
                </a:solidFill>
                <a:latin typeface="Aptos"/>
              </a:rPr>
              <a:t>fee_bill / payment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3840480"/>
            <a:ext cx="1920240" cy="14173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20072" y="4005072"/>
            <a:ext cx="15910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8F9FA"/>
                </a:solidFill>
                <a:latin typeface="Aptos"/>
              </a:rPr>
              <a:t>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0072" y="4343400"/>
            <a:ext cx="15910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D5DFE9"/>
                </a:solidFill>
                <a:latin typeface="Aptos"/>
              </a:rPr>
              <a:t>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4818888"/>
            <a:ext cx="15910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9" b="0">
                <a:solidFill>
                  <a:srgbClr val="ADBDCC"/>
                </a:solidFill>
                <a:latin typeface="Aptos"/>
              </a:rPr>
              <a:t>8 SQL 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03 —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A simple login flow for an academic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Passwords are stored as bcrypt hashes; authenticated state is maintained in Streamlit session state.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828800" cy="11430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4144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LOGIN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70632"/>
            <a:ext cx="15544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username + password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2807208"/>
            <a:ext cx="1069848" cy="0"/>
          </a:xfrm>
          <a:prstGeom prst="line">
            <a:avLst/>
          </a:prstGeom>
          <a:ln w="3048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94760" y="2240280"/>
            <a:ext cx="2103120" cy="11430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441448"/>
            <a:ext cx="18287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MYSQL LOOKUP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770632"/>
            <a:ext cx="1828799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user_account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71032" y="2807208"/>
            <a:ext cx="1069848" cy="0"/>
          </a:xfrm>
          <a:prstGeom prst="line">
            <a:avLst/>
          </a:prstGeom>
          <a:ln w="30480">
            <a:solidFill>
              <a:srgbClr val="009C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0" y="2240280"/>
            <a:ext cx="2057400" cy="11430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441448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BCRYPT 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770632"/>
            <a:ext cx="17830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password hash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62872" y="2807208"/>
            <a:ext cx="841248" cy="0"/>
          </a:xfrm>
          <a:prstGeom prst="line">
            <a:avLst/>
          </a:prstGeom>
          <a:ln w="3048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149840" y="2240280"/>
            <a:ext cx="1280160" cy="11430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7000" y="2441448"/>
            <a:ext cx="1005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2770632"/>
            <a:ext cx="1005839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authenticated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4160520"/>
            <a:ext cx="8092440" cy="109728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30552" y="4389120"/>
            <a:ext cx="7589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0552" y="4910328"/>
            <a:ext cx="7589519" cy="137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D5DFE9"/>
                </a:solidFill>
                <a:latin typeface="Aptos"/>
              </a:rPr>
              <a:t>Unauthenticated users are stopped at the login gate; the application does not store plaintext passwords.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04 — CRUD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Database operations demonstrated through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Write operations use parameterized SQL and the database constraints remain active.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606040" cy="196596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488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C  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670048"/>
            <a:ext cx="210312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>
                <a:solidFill>
                  <a:srgbClr val="D5DFE9"/>
                </a:solidFill>
                <a:latin typeface="Aptos"/>
              </a:rPr>
              <a:t>Students, sections, registrations, attendance, examinations, fee bills and payments.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920240"/>
            <a:ext cx="2606040" cy="196596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1488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R  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670048"/>
            <a:ext cx="210312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>
                <a:solidFill>
                  <a:srgbClr val="D5DFE9"/>
                </a:solidFill>
                <a:latin typeface="Aptos"/>
              </a:rPr>
              <a:t>Directories, student details, dashboard metrics and reports.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20240"/>
            <a:ext cx="2606040" cy="196596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488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U  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670048"/>
            <a:ext cx="210312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>
                <a:solidFill>
                  <a:srgbClr val="D5DFE9"/>
                </a:solidFill>
                <a:latin typeface="Aptos"/>
              </a:rPr>
              <a:t>Student details, attendance status and examination marks.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920240"/>
            <a:ext cx="2606040" cy="196596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2" y="21488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D  CONTROLLED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670048"/>
            <a:ext cx="210312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60" b="0">
                <a:solidFill>
                  <a:srgbClr val="D5DFE9"/>
                </a:solidFill>
                <a:latin typeface="Aptos"/>
              </a:rPr>
              <a:t>Registration drop and student deactivation use status changes rather than careless deletion.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70916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The database, not the page, determines whether a constrained transaction is accepted.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05 — BUSINESS-RULE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What should pass and what should be rejected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Negative cases are part of the DBMS demonstration because they show where integrity is enforced.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337560" cy="14173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05740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PASS  Valid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57860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>
                <a:solidFill>
                  <a:srgbClr val="D5DFE9"/>
                </a:solidFill>
                <a:latin typeface="Aptos"/>
              </a:rPr>
              <a:t>Active student + available section → accepted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337560" cy="14173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05740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REJECT  Duplicate registration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57860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>
                <a:solidFill>
                  <a:srgbClr val="D5DFE9"/>
                </a:solidFill>
                <a:latin typeface="Aptos"/>
              </a:rPr>
              <a:t>Same course + semester → rejected by constraint/trigger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337560" cy="14173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05740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REJECT  Section 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57860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>
                <a:solidFill>
                  <a:srgbClr val="D5DFE9"/>
                </a:solidFill>
                <a:latin typeface="Aptos"/>
              </a:rPr>
              <a:t>No free seat → rejected by trigger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20440"/>
            <a:ext cx="3337560" cy="14173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749039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REJECT  Future 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27024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>
                <a:solidFill>
                  <a:srgbClr val="D5DFE9"/>
                </a:solidFill>
                <a:latin typeface="Aptos"/>
              </a:rPr>
              <a:t>attendance_date &gt; CURRENT_DATE() → rejected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520440"/>
            <a:ext cx="3337560" cy="14173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3749039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PASS  Exam 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427024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>
                <a:solidFill>
                  <a:srgbClr val="D5DFE9"/>
                </a:solidFill>
                <a:latin typeface="Aptos"/>
              </a:rPr>
              <a:t>92.5 / 100 → A+ / 10.0 by trigger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3520440"/>
            <a:ext cx="3337560" cy="14173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1" y="3749039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REJECT  Overpayment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4270248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30" b="0">
                <a:solidFill>
                  <a:srgbClr val="D5DFE9"/>
                </a:solidFill>
                <a:latin typeface="Aptos"/>
              </a:rPr>
              <a:t>Payment above outstanding balance → rejected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06 — LIVE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Every important transaction follows one controlled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The database is the final decision point for integrity-sensitive writes.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1691640" cy="132588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5000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9192"/>
            <a:ext cx="1417320" cy="704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Streamlit input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2807208"/>
            <a:ext cx="155448" cy="0"/>
          </a:xfrm>
          <a:prstGeom prst="line">
            <a:avLst/>
          </a:prstGeom>
          <a:ln w="3048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41448" y="2148840"/>
            <a:ext cx="1691640" cy="132588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78608" y="235000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2679192"/>
            <a:ext cx="1417320" cy="704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Parameterized query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33087" y="2807208"/>
            <a:ext cx="155449" cy="0"/>
          </a:xfrm>
          <a:prstGeom prst="line">
            <a:avLst/>
          </a:prstGeom>
          <a:ln w="3048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88536" y="2148840"/>
            <a:ext cx="1691640" cy="132588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235000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679192"/>
            <a:ext cx="1417320" cy="704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Constraint / trigger / procedure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0175" y="2807208"/>
            <a:ext cx="155448" cy="0"/>
          </a:xfrm>
          <a:prstGeom prst="line">
            <a:avLst/>
          </a:prstGeom>
          <a:ln w="3048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35623" y="2148840"/>
            <a:ext cx="1691640" cy="132588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235000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2679192"/>
            <a:ext cx="1417320" cy="704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Commit or SIGNAL rejection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27263" y="2807208"/>
            <a:ext cx="155448" cy="0"/>
          </a:xfrm>
          <a:prstGeom prst="line">
            <a:avLst/>
          </a:prstGeom>
          <a:ln w="3048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982711" y="2148840"/>
            <a:ext cx="1691640" cy="132588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1" y="235000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Read 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1" y="2679192"/>
            <a:ext cx="1417320" cy="704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Updated record / view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674351" y="2807208"/>
            <a:ext cx="155448" cy="0"/>
          </a:xfrm>
          <a:prstGeom prst="line">
            <a:avLst/>
          </a:prstGeom>
          <a:ln w="3048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829799" y="2148840"/>
            <a:ext cx="1691640" cy="132588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59" y="235000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59" y="2679192"/>
            <a:ext cx="1417320" cy="704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Success or error message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389120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Same path for registration, attendance, examination and payment.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07 — REPORTING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Same normalized data, different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The Reports page reads directly from SQL views for academic and financial analysis.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783080"/>
          <a:ext cx="108356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429000"/>
                <a:gridCol w="4663440"/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989" b="1">
                          <a:solidFill>
                            <a:srgbClr val="F8F9FA"/>
                          </a:solidFill>
                          <a:latin typeface="Aptos"/>
                        </a:rPr>
                        <a:t>Report</a:t>
                      </a:r>
                    </a:p>
                  </a:txBody>
                  <a:tcPr anchor="ctr" marL="63500" marR="63500" marT="25400" marB="25400">
                    <a:solidFill>
                      <a:srgbClr val="132F4C"/>
                    </a:solidFill>
                    <a:lnL w="12700">
                      <a:solidFill>
                        <a:srgbClr val="00CDB5"/>
                      </a:solidFill>
                      <a:prstDash val="solid"/>
                    </a:lnL>
                    <a:lnR w="12700">
                      <a:solidFill>
                        <a:srgbClr val="00CDB5"/>
                      </a:solidFill>
                      <a:prstDash val="solid"/>
                    </a:lnR>
                    <a:lnT w="12700">
                      <a:solidFill>
                        <a:srgbClr val="00CDB5"/>
                      </a:solidFill>
                      <a:prstDash val="solid"/>
                    </a:lnT>
                    <a:lnB w="12700">
                      <a:solidFill>
                        <a:srgbClr val="00CDB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9" b="1">
                          <a:solidFill>
                            <a:srgbClr val="F8F9FA"/>
                          </a:solidFill>
                          <a:latin typeface="Aptos"/>
                        </a:rPr>
                        <a:t>Primary SQL concept</a:t>
                      </a:r>
                    </a:p>
                  </a:txBody>
                  <a:tcPr anchor="ctr" marL="63500" marR="63500" marT="25400" marB="25400">
                    <a:solidFill>
                      <a:srgbClr val="132F4C"/>
                    </a:solidFill>
                    <a:lnL w="12700">
                      <a:solidFill>
                        <a:srgbClr val="00CDB5"/>
                      </a:solidFill>
                      <a:prstDash val="solid"/>
                    </a:lnL>
                    <a:lnR w="12700">
                      <a:solidFill>
                        <a:srgbClr val="00CDB5"/>
                      </a:solidFill>
                      <a:prstDash val="solid"/>
                    </a:lnR>
                    <a:lnT w="12700">
                      <a:solidFill>
                        <a:srgbClr val="00CDB5"/>
                      </a:solidFill>
                      <a:prstDash val="solid"/>
                    </a:lnT>
                    <a:lnB w="12700">
                      <a:solidFill>
                        <a:srgbClr val="00CDB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9" b="1">
                          <a:solidFill>
                            <a:srgbClr val="F8F9FA"/>
                          </a:solidFill>
                          <a:latin typeface="Aptos"/>
                        </a:rPr>
                        <a:t>Output</a:t>
                      </a:r>
                    </a:p>
                  </a:txBody>
                  <a:tcPr anchor="ctr" marL="63500" marR="63500" marT="25400" marB="25400">
                    <a:solidFill>
                      <a:srgbClr val="132F4C"/>
                    </a:solidFill>
                    <a:lnL w="12700">
                      <a:solidFill>
                        <a:srgbClr val="00CDB5"/>
                      </a:solidFill>
                      <a:prstDash val="solid"/>
                    </a:lnL>
                    <a:lnR w="12700">
                      <a:solidFill>
                        <a:srgbClr val="00CDB5"/>
                      </a:solidFill>
                      <a:prstDash val="solid"/>
                    </a:lnR>
                    <a:lnT w="12700">
                      <a:solidFill>
                        <a:srgbClr val="00CDB5"/>
                      </a:solidFill>
                      <a:prstDash val="solid"/>
                    </a:lnT>
                    <a:lnB w="12700">
                      <a:solidFill>
                        <a:srgbClr val="00CDB5"/>
                      </a:solidFill>
                      <a:prstDash val="soli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D5DFE9"/>
                          </a:solidFill>
                          <a:latin typeface="Aptos"/>
                        </a:rPr>
                        <a:t>Academic history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D5DFE9"/>
                          </a:solidFill>
                          <a:latin typeface="Aptos"/>
                        </a:rPr>
                        <a:t>JOIN + ordered retrieval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D5DFE9"/>
                          </a:solidFill>
                          <a:latin typeface="Aptos"/>
                        </a:rPr>
                        <a:t>Course, assessment and grade history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D5DFE9"/>
                          </a:solidFill>
                          <a:latin typeface="Aptos"/>
                        </a:rPr>
                        <a:t>Attendance summary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D5DFE9"/>
                          </a:solidFill>
                          <a:latin typeface="Aptos"/>
                        </a:rPr>
                        <a:t>GROUP BY / aggregate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D5DFE9"/>
                          </a:solidFill>
                          <a:latin typeface="Aptos"/>
                        </a:rPr>
                        <a:t>Session totals and attendance percentage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D5DFE9"/>
                          </a:solidFill>
                          <a:latin typeface="Aptos"/>
                        </a:rPr>
                        <a:t>Result analysis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D5DFE9"/>
                          </a:solidFill>
                          <a:latin typeface="Aptos"/>
                        </a:rPr>
                        <a:t>AVG / MAX / MIN / pass rate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D5DFE9"/>
                          </a:solidFill>
                          <a:latin typeface="Aptos"/>
                        </a:rPr>
                        <a:t>Course- and exam-level performance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D5DFE9"/>
                          </a:solidFill>
                          <a:latin typeface="Aptos"/>
                        </a:rPr>
                        <a:t>Fee dues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D5DFE9"/>
                          </a:solidFill>
                          <a:latin typeface="Aptos"/>
                        </a:rPr>
                        <a:t>SUM(payment) + balance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D5DFE9"/>
                          </a:solidFill>
                          <a:latin typeface="Aptos"/>
                        </a:rPr>
                        <a:t>Bill-level and student-level outstanding amounts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D5DFE9"/>
                          </a:solidFill>
                          <a:latin typeface="Aptos"/>
                        </a:rPr>
                        <a:t>Department summary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D5DFE9"/>
                          </a:solidFill>
                          <a:latin typeface="Aptos"/>
                        </a:rPr>
                        <a:t>JOIN + GROUP BY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D5DFE9"/>
                          </a:solidFill>
                          <a:latin typeface="Aptos"/>
                        </a:rPr>
                        <a:t>Faculty, programme, course and student counts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D5DFE9"/>
                          </a:solidFill>
                          <a:latin typeface="Aptos"/>
                        </a:rPr>
                        <a:t>Section occupancy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D5DFE9"/>
                          </a:solidFill>
                          <a:latin typeface="Aptos"/>
                        </a:rPr>
                        <a:t>COUNT + capacity arithmetic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D5DFE9"/>
                          </a:solidFill>
                          <a:latin typeface="Aptos"/>
                        </a:rPr>
                        <a:t>Enrolled count, seats remaining, occupancy %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08 — FINAL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What the final submission should demonstrate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The final package should use actual screenshots and observed test results from the current Streamlit + MySQL prototype.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606040" cy="1874519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57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A  Evidence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578608"/>
            <a:ext cx="210312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5DFE9"/>
                </a:solidFill>
                <a:latin typeface="Aptos"/>
              </a:rPr>
              <a:t>Login screen
Dashboard / live counts
Student record / admission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606040" cy="1874519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057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B  Evidence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578608"/>
            <a:ext cx="210312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5DFE9"/>
                </a:solidFill>
                <a:latin typeface="Aptos"/>
              </a:rPr>
              <a:t>Registration success
Duplicate rejection
Attendance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2606040" cy="1874519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057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C  Evidence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578608"/>
            <a:ext cx="210312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5DFE9"/>
                </a:solidFill>
                <a:latin typeface="Aptos"/>
              </a:rPr>
              <a:t>Exam marks
Automatic grade
Fee payment /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828800"/>
            <a:ext cx="2606040" cy="1874519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2" y="2057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D  Evidence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578608"/>
            <a:ext cx="210312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5DFE9"/>
                </a:solidFill>
                <a:latin typeface="Aptos"/>
              </a:rPr>
              <a:t>Reports
View-derived outputs
Observed PASS/REJECT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617720"/>
            <a:ext cx="81838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D5DFE9"/>
                </a:solidFill>
                <a:latin typeface="Aptos"/>
              </a:rPr>
              <a:t>These are evidence categories, not fabricated screenshots or test claims.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FINAL — SUBMISSION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Prototype → evidence → report →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All deliverables describe the same final Python + Streamlit + MySQL implementation.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3337560" cy="18288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4884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01 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670048"/>
            <a:ext cx="2834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D5DFE9"/>
                </a:solidFill>
                <a:latin typeface="Aptos"/>
              </a:rPr>
              <a:t>Source code
SQL scripts
README + LICENSE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20240"/>
            <a:ext cx="3337560" cy="18288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14884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02 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670048"/>
            <a:ext cx="2834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D5DFE9"/>
                </a:solidFill>
                <a:latin typeface="Aptos"/>
              </a:rPr>
              <a:t>Template-compliant report
ERD + schema
References + appendices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20240"/>
            <a:ext cx="3337560" cy="18288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14884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03 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670048"/>
            <a:ext cx="2834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D5DFE9"/>
                </a:solidFill>
                <a:latin typeface="Aptos"/>
              </a:rPr>
              <a:t>Review 1 + Review 2 + Review 3
Same visual system
Final prototype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6177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8F9FA"/>
                </a:solidFill>
                <a:latin typeface="Aptos"/>
              </a:rPr>
              <a:t>Student &amp; College Management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074920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D5DFE9"/>
                </a:solidFill>
                <a:latin typeface="Aptos"/>
              </a:rPr>
              <a:t>Vardan Desai  •  25WU0104029  •  AIML Rhinos  •  Semester III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&amp; College Management System – DBMS PBL</dc:title>
  <dc:subject>Woxsen University – Database Management Systems Project</dc:subject>
  <dc:creator>Vardan Desai</dc:creator>
  <cp:keywords>DBMS, MySQL, Python, Streamlit, SCMS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